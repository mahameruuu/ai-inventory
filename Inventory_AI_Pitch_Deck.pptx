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3657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B9C0FF"/>
                </a:solidFill>
                <a:latin typeface="Calibri"/>
              </a:rPr>
              <a:t>INVENTORY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14600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Calibri"/>
              </a:rPr>
              <a:t>Kepastian stok, bukan tebakan gudang.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6CADC"/>
                </a:solidFill>
                <a:latin typeface="Calibri"/>
              </a:rPr>
              <a:t>Platform manajemen inventori dengan prakiraan permintaan berbasis AI —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6CADC"/>
                </a:solidFill>
                <a:latin typeface="Calibri"/>
              </a:rPr>
              <a:t>menjawab tiga pertanyaan yang sebenarnya ditanyakan tim gudang: kondisi sekarang,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6CADC"/>
                </a:solidFill>
                <a:latin typeface="Calibri"/>
              </a:rPr>
              <a:t>apa yang butuh perhatian, dan apa yang akan terjadi.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8A90B0"/>
                </a:solidFill>
                <a:latin typeface="Calibri"/>
              </a:rPr>
              <a:t>SML Tech  ·  Materi presentasi komersial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46E5"/>
                </a:solidFill>
                <a:latin typeface="Calibri"/>
              </a:rPr>
              <a:t>MASALAH YANG SERING DIHADAPI TIM GUDANG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F3B"/>
                </a:solidFill>
                <a:latin typeface="Calibri"/>
              </a:rPr>
              <a:t>Keputusan stok masih berbasis feeling, bukan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200"/>
              </a:spcAft>
            </a:pPr>
            <a:r>
              <a:rPr b="1" sz="1700">
                <a:solidFill>
                  <a:srgbClr val="4F46E5"/>
                </a:solidFill>
                <a:latin typeface="Calibri"/>
              </a:rPr>
              <a:t>Kehabisan stok mendadak</a:t>
            </a:r>
            <a:r>
              <a:rPr sz="1700">
                <a:solidFill>
                  <a:srgbClr val="181B2E"/>
                </a:solidFill>
                <a:latin typeface="Calibri"/>
              </a:rPr>
              <a:t>  — barang kritikal habis sebelum ada yang sadar, produksi/operasional berhenti.</a:t>
            </a:r>
          </a:p>
          <a:p>
            <a:pPr>
              <a:lnSpc>
                <a:spcPct val="112000"/>
              </a:lnSpc>
              <a:spcAft>
                <a:spcPts val="2200"/>
              </a:spcAft>
            </a:pPr>
            <a:r>
              <a:rPr b="1" sz="1700">
                <a:solidFill>
                  <a:srgbClr val="4F46E5"/>
                </a:solidFill>
                <a:latin typeface="Calibri"/>
              </a:rPr>
              <a:t>Kelebihan stok mengendap</a:t>
            </a:r>
            <a:r>
              <a:rPr sz="1700">
                <a:solidFill>
                  <a:srgbClr val="181B2E"/>
                </a:solidFill>
                <a:latin typeface="Calibri"/>
              </a:rPr>
              <a:t>  — modal terkunci di rak karena pemesanan asal "aman-amankan saja".</a:t>
            </a:r>
          </a:p>
          <a:p>
            <a:pPr>
              <a:lnSpc>
                <a:spcPct val="112000"/>
              </a:lnSpc>
              <a:spcAft>
                <a:spcPts val="2200"/>
              </a:spcAft>
            </a:pPr>
            <a:r>
              <a:rPr b="1" sz="1700">
                <a:solidFill>
                  <a:srgbClr val="4F46E5"/>
                </a:solidFill>
                <a:latin typeface="Calibri"/>
              </a:rPr>
              <a:t>Excel tersebar di banyak orang</a:t>
            </a:r>
            <a:r>
              <a:rPr sz="1700">
                <a:solidFill>
                  <a:srgbClr val="181B2E"/>
                </a:solidFill>
                <a:latin typeface="Calibri"/>
              </a:rPr>
              <a:t>  — tidak ada satu sumber angka yang bisa dipercaya semua pihak.</a:t>
            </a:r>
          </a:p>
          <a:p>
            <a:pPr>
              <a:lnSpc>
                <a:spcPct val="112000"/>
              </a:lnSpc>
              <a:spcAft>
                <a:spcPts val="2200"/>
              </a:spcAft>
            </a:pPr>
            <a:r>
              <a:rPr b="1" sz="1700">
                <a:solidFill>
                  <a:srgbClr val="4F46E5"/>
                </a:solidFill>
                <a:latin typeface="Calibri"/>
              </a:rPr>
              <a:t>Reaktif, bukan prediktif</a:t>
            </a:r>
            <a:r>
              <a:rPr sz="1700">
                <a:solidFill>
                  <a:srgbClr val="181B2E"/>
                </a:solidFill>
                <a:latin typeface="Calibri"/>
              </a:rPr>
              <a:t>  — tim baru tahu ada masalah setelah masalah itu terjadi.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27A"/>
                </a:solidFill>
                <a:latin typeface="Calibri"/>
              </a:rPr>
              <a:t>Inventory AI — SML 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27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46E5"/>
                </a:solidFill>
                <a:latin typeface="Calibri"/>
              </a:rPr>
              <a:t>PENDEKATAN INVENTORY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F3B"/>
                </a:solidFill>
                <a:latin typeface="Calibri"/>
              </a:rPr>
              <a:t>Satu dasbor, tiga pertanyaan yang benar-benar penting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57400"/>
            <a:ext cx="342900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2331720"/>
            <a:ext cx="548640" cy="548640"/>
          </a:xfrm>
          <a:prstGeom prst="ellipse">
            <a:avLst/>
          </a:prstGeom>
          <a:solidFill>
            <a:srgbClr val="168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A1F3B"/>
                </a:solidFill>
                <a:latin typeface="Calibri"/>
              </a:rPr>
              <a:t>Bagaimana kondisi</a:t>
            </a:r>
          </a:p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A1F3B"/>
                </a:solidFill>
                <a:latin typeface="Calibri"/>
              </a:rPr>
              <a:t>persediaan sekarang?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2880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B627A"/>
                </a:solidFill>
                <a:latin typeface="Calibri"/>
              </a:rPr>
              <a:t>Status tiap SKU per gudang: sehat, perlu dipesan, atau berisiko habis — real-time, satu sumber angka.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57400"/>
            <a:ext cx="342900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63440" y="2331720"/>
            <a:ext cx="548640" cy="548640"/>
          </a:xfrm>
          <a:prstGeom prst="ellipse">
            <a:avLst/>
          </a:prstGeom>
          <a:solidFill>
            <a:srgbClr val="B46E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063240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A1F3B"/>
                </a:solidFill>
                <a:latin typeface="Calibri"/>
              </a:rPr>
              <a:t>Apa yang butuh</a:t>
            </a:r>
          </a:p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A1F3B"/>
                </a:solidFill>
                <a:latin typeface="Calibri"/>
              </a:rPr>
              <a:t>perhatian?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114800"/>
            <a:ext cx="2880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B627A"/>
                </a:solidFill>
                <a:latin typeface="Calibri"/>
              </a:rPr>
              <a:t>Daftar terprioritas, diurutkan mesin reorder — bukan tebakan, bukan spreadsheet manual.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057400"/>
            <a:ext cx="342900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3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0" y="23317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063240"/>
            <a:ext cx="2880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A1F3B"/>
                </a:solidFill>
                <a:latin typeface="Calibri"/>
              </a:rPr>
              <a:t>Apa yang diprakirakan</a:t>
            </a:r>
          </a:p>
          <a:p>
            <a:pPr algn="l">
              <a:lnSpc>
                <a:spcPct val="110000"/>
              </a:lnSpc>
            </a:pPr>
            <a:r>
              <a:rPr sz="1700" b="1" i="0">
                <a:solidFill>
                  <a:srgbClr val="1A1F3B"/>
                </a:solidFill>
                <a:latin typeface="Calibri"/>
              </a:rPr>
              <a:t>akan terjadi?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114800"/>
            <a:ext cx="2880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B627A"/>
                </a:solidFill>
                <a:latin typeface="Calibri"/>
              </a:rPr>
              <a:t>AI memprakirakan permintaan 7–30 hari ke depan, lengkap dengan rekomendasi jumlah pesan.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27A"/>
                </a:solidFill>
                <a:latin typeface="Calibri"/>
              </a:rPr>
              <a:t>Inventory AI — SML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27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46E5"/>
                </a:solidFill>
                <a:latin typeface="Calibri"/>
              </a:rPr>
              <a:t>TAMPILAN PRODUK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F3B"/>
                </a:solidFill>
                <a:latin typeface="Calibri"/>
              </a:rPr>
              <a:t>Dashboard: kondisi seluruh gudang dalam satu layar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27A"/>
                </a:solidFill>
                <a:latin typeface="Calibri"/>
              </a:rPr>
              <a:t>Data langsung dari mesin reorder — bukan dihitung ulang di layar ini, sehingga angka di dasbor dan di halaman lain tidak pernah berselisih.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57320" y="1723080"/>
            <a:ext cx="5734497" cy="4829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3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783080"/>
            <a:ext cx="5614497" cy="47091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27A"/>
                </a:solidFill>
                <a:latin typeface="Calibri"/>
              </a:rPr>
              <a:t>Inventory AI — SML 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27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46E5"/>
                </a:solidFill>
                <a:latin typeface="Calibri"/>
              </a:rPr>
              <a:t>FITUR AI — INTI PRODUK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F3B"/>
                </a:solidFill>
                <a:latin typeface="Calibri"/>
              </a:rPr>
              <a:t>Demand Forecasting: 5 model klasik + XGBoost, otomatis memilih yang terbaik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27A"/>
                </a:solidFill>
                <a:latin typeface="Calibri"/>
              </a:rPr>
              <a:t>Mode "Best" mengadu seluruh model di atas riwayat barang itu sendiri lewat backtest MASE, lalu memakai pemenangnya — bukan satu rumus generik untuk semua barang.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77360" y="1768800"/>
            <a:ext cx="6220984" cy="4783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3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foreca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828800"/>
            <a:ext cx="6100984" cy="4663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27A"/>
                </a:solidFill>
                <a:latin typeface="Calibri"/>
              </a:rPr>
              <a:t>Inventory AI — SML 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27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46E5"/>
                </a:solidFill>
                <a:latin typeface="Calibri"/>
              </a:rPr>
              <a:t>FITUR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F3B"/>
                </a:solidFill>
                <a:latin typeface="Calibri"/>
              </a:rPr>
              <a:t>Reorder: daftar prioritas, bukan tebakan gudang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27A"/>
                </a:solidFill>
                <a:latin typeface="Calibri"/>
              </a:rPr>
              <a:t>Setiap baris menjawab: butuh dipesan atau tidak, berapa banyak, dan seberapa mendesak — dihitung dari laju pemakaian, masa tunggu pemasok, dan safety stock.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05960" y="1768800"/>
            <a:ext cx="7659134" cy="4737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3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reorde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828800"/>
            <a:ext cx="7539134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27A"/>
                </a:solidFill>
                <a:latin typeface="Calibri"/>
              </a:rPr>
              <a:t>Inventory AI — SML 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27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46E5"/>
                </a:solidFill>
                <a:latin typeface="Calibri"/>
              </a:rPr>
              <a:t>FITUR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F3B"/>
                </a:solidFill>
                <a:latin typeface="Calibri"/>
              </a:rPr>
              <a:t>Transfer Antar Gudang: pindahkan dulu, baru beli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27A"/>
                </a:solidFill>
                <a:latin typeface="Calibri"/>
              </a:rPr>
              <a:t>Sebelum merekomendasikan pembelian baru, sistem mencari gudang lain yang punya kelebihan stok — lengkap dengan rute, moda transportasi, dan estimasi biaya yang disarankan model ML.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40200" y="1768800"/>
            <a:ext cx="7435200" cy="4737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3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6_transfe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828800"/>
            <a:ext cx="7315200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27A"/>
                </a:solidFill>
                <a:latin typeface="Calibri"/>
              </a:rPr>
              <a:t>Inventory AI — SML 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27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46E5"/>
                </a:solidFill>
                <a:latin typeface="Calibri"/>
              </a:rPr>
              <a:t>FITUR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F3B"/>
                </a:solidFill>
                <a:latin typeface="Calibri"/>
              </a:rPr>
              <a:t>Analisis Umur Pakai: tahu kapan komponen wajar diganti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27A"/>
                </a:solidFill>
                <a:latin typeface="Calibri"/>
              </a:rPr>
              <a:t>Membandingkan umur pakai aktual tiap komponen dengan referensi pabrikan — mendeteksi penggantian yang terlalu cepat (indikasi masalah) atau terlalu lama (potensi risiko), berbasis data histori nyata.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05960" y="1768800"/>
            <a:ext cx="7659134" cy="4737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3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lifetim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828800"/>
            <a:ext cx="7539134" cy="4617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27A"/>
                </a:solidFill>
                <a:latin typeface="Calibri"/>
              </a:rPr>
              <a:t>Inventory AI — SML 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27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46E5"/>
                </a:solidFill>
                <a:latin typeface="Calibri"/>
              </a:rPr>
              <a:t>FITUR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F3B"/>
                </a:solidFill>
                <a:latin typeface="Calibri"/>
              </a:rPr>
              <a:t>AI Assistant: tanya jawab bahasa natural, dijawab dari data sungguhan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5B627A"/>
                </a:solidFill>
                <a:latin typeface="Calibri"/>
              </a:rPr>
              <a:t>"Barang apa yang mau habis?", "apakah perlu pesan minggu ini?" — dijawab dari data sistem, bukan karangan model bahasa.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77360" y="1768800"/>
            <a:ext cx="7288896" cy="4600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3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7_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828800"/>
            <a:ext cx="7168896" cy="4480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27A"/>
                </a:solidFill>
                <a:latin typeface="Calibri"/>
              </a:rPr>
              <a:t>Inventory AI — SML Tech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27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46E5"/>
                </a:solidFill>
                <a:latin typeface="Calibri"/>
              </a:rPr>
              <a:t>KENAPA BISA DIPERCAYA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F3B"/>
                </a:solidFill>
                <a:latin typeface="Calibri"/>
              </a:rPr>
              <a:t>Dibangun dengan standar keamanan multi-tenant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000"/>
              </a:spcAft>
            </a:pPr>
            <a:r>
              <a:rPr b="1" sz="1600">
                <a:solidFill>
                  <a:srgbClr val="4F46E5"/>
                </a:solidFill>
                <a:latin typeface="Calibri"/>
              </a:rPr>
              <a:t>Isolasi data per klien</a:t>
            </a:r>
            <a:r>
              <a:rPr sz="1600">
                <a:solidFill>
                  <a:srgbClr val="181B2E"/>
                </a:solidFill>
                <a:latin typeface="Calibri"/>
              </a:rPr>
              <a:t>  — Row-Level Security di database: satu klien tidak akan pernah melihat data klien lain, dijamin di level database, bukan hanya di aplikasi.</a:t>
            </a:r>
          </a:p>
          <a:p>
            <a:pPr>
              <a:lnSpc>
                <a:spcPct val="112000"/>
              </a:lnSpc>
              <a:spcAft>
                <a:spcPts val="2000"/>
              </a:spcAft>
            </a:pPr>
            <a:r>
              <a:rPr b="1" sz="1600">
                <a:solidFill>
                  <a:srgbClr val="4F46E5"/>
                </a:solidFill>
                <a:latin typeface="Calibri"/>
              </a:rPr>
              <a:t>Autentikasi wajib di semua endpoint</a:t>
            </a:r>
            <a:r>
              <a:rPr sz="1600">
                <a:solidFill>
                  <a:srgbClr val="181B2E"/>
                </a:solidFill>
                <a:latin typeface="Calibri"/>
              </a:rPr>
              <a:t>  — dipasang terpusat, bukan per halaman, sehingga tidak mungkin ada endpoint baru yang lupa dijaga.</a:t>
            </a:r>
          </a:p>
          <a:p>
            <a:pPr>
              <a:lnSpc>
                <a:spcPct val="112000"/>
              </a:lnSpc>
              <a:spcAft>
                <a:spcPts val="2000"/>
              </a:spcAft>
            </a:pPr>
            <a:r>
              <a:rPr b="1" sz="1600">
                <a:solidFill>
                  <a:srgbClr val="4F46E5"/>
                </a:solidFill>
                <a:latin typeface="Calibri"/>
              </a:rPr>
              <a:t>Rate limiting</a:t>
            </a:r>
            <a:r>
              <a:rPr sz="1600">
                <a:solidFill>
                  <a:srgbClr val="181B2E"/>
                </a:solidFill>
                <a:latin typeface="Calibri"/>
              </a:rPr>
              <a:t>  — melindungi sistem dari beban berlebih di endpoint AI yang berat komputasi.</a:t>
            </a:r>
          </a:p>
          <a:p>
            <a:pPr>
              <a:lnSpc>
                <a:spcPct val="112000"/>
              </a:lnSpc>
              <a:spcAft>
                <a:spcPts val="2000"/>
              </a:spcAft>
            </a:pPr>
            <a:r>
              <a:rPr b="1" sz="1600">
                <a:solidFill>
                  <a:srgbClr val="4F46E5"/>
                </a:solidFill>
                <a:latin typeface="Calibri"/>
              </a:rPr>
              <a:t>Model AI teruji</a:t>
            </a:r>
            <a:r>
              <a:rPr sz="1600">
                <a:solidFill>
                  <a:srgbClr val="181B2E"/>
                </a:solidFill>
                <a:latin typeface="Calibri"/>
              </a:rPr>
              <a:t>  — tiap model prakiraan diverifikasi menang di pola datanya sendiri lewat automated test, bukan sekadar "kelihatannya jalan".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27A"/>
                </a:solidFill>
                <a:latin typeface="Calibri"/>
              </a:rPr>
              <a:t>Inventory AI — SML 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27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46E5"/>
                </a:solidFill>
                <a:latin typeface="Calibri"/>
              </a:rPr>
              <a:t>DIFERENSIASI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F3B"/>
                </a:solidFill>
                <a:latin typeface="Calibri"/>
              </a:rPr>
              <a:t>Bukan kotak hitam — setiap angka bisa dijelaskan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000"/>
              </a:spcAft>
            </a:pPr>
            <a:r>
              <a:rPr b="1" sz="1600">
                <a:solidFill>
                  <a:srgbClr val="4F46E5"/>
                </a:solidFill>
                <a:latin typeface="Calibri"/>
              </a:rPr>
              <a:t>Model scoreboard transparan</a:t>
            </a:r>
            <a:r>
              <a:rPr sz="1600">
                <a:solidFill>
                  <a:srgbClr val="181B2E"/>
                </a:solidFill>
                <a:latin typeface="Calibri"/>
              </a:rPr>
              <a:t>  — saat mode "Best" dipakai, sistem menunjukkan skor tiap model yang diadu, bukan cuma hasil akhirnya.</a:t>
            </a:r>
          </a:p>
          <a:p>
            <a:pPr>
              <a:lnSpc>
                <a:spcPct val="112000"/>
              </a:lnSpc>
              <a:spcAft>
                <a:spcPts val="2000"/>
              </a:spcAft>
            </a:pPr>
            <a:r>
              <a:rPr b="1" sz="1600">
                <a:solidFill>
                  <a:srgbClr val="4F46E5"/>
                </a:solidFill>
                <a:latin typeface="Calibri"/>
              </a:rPr>
              <a:t>Sumber tunggal angka</a:t>
            </a:r>
            <a:r>
              <a:rPr sz="1600">
                <a:solidFill>
                  <a:srgbClr val="181B2E"/>
                </a:solidFill>
                <a:latin typeface="Calibri"/>
              </a:rPr>
              <a:t>  — dasbor, reorder, dan transfer semua mengambil dari satu mesin keputusan yang sama; tidak pernah ada dua halaman yang berselisih angka.</a:t>
            </a:r>
          </a:p>
          <a:p>
            <a:pPr>
              <a:lnSpc>
                <a:spcPct val="112000"/>
              </a:lnSpc>
              <a:spcAft>
                <a:spcPts val="2000"/>
              </a:spcAft>
            </a:pPr>
            <a:r>
              <a:rPr b="1" sz="1600">
                <a:solidFill>
                  <a:srgbClr val="4F46E5"/>
                </a:solidFill>
                <a:latin typeface="Calibri"/>
              </a:rPr>
              <a:t>Fallback otomatis, tidak pernah mati</a:t>
            </a:r>
            <a:r>
              <a:rPr sz="1600">
                <a:solidFill>
                  <a:srgbClr val="181B2E"/>
                </a:solidFill>
                <a:latin typeface="Calibri"/>
              </a:rPr>
              <a:t>  — kalau model AI gagal dimuat, sistem otomatis turun ke metode statistik, bukan menampilkan error ke pengguna.</a:t>
            </a:r>
          </a:p>
          <a:p>
            <a:pPr>
              <a:lnSpc>
                <a:spcPct val="112000"/>
              </a:lnSpc>
              <a:spcAft>
                <a:spcPts val="2000"/>
              </a:spcAft>
            </a:pPr>
            <a:r>
              <a:rPr b="1" sz="1600">
                <a:solidFill>
                  <a:srgbClr val="4F46E5"/>
                </a:solidFill>
                <a:latin typeface="Calibri"/>
              </a:rPr>
              <a:t>Tenant demo terpisah, aman ditunjukkan</a:t>
            </a:r>
            <a:r>
              <a:rPr sz="1600">
                <a:solidFill>
                  <a:srgbClr val="181B2E"/>
                </a:solidFill>
                <a:latin typeface="Calibri"/>
              </a:rPr>
              <a:t>  — environment demo dengan data realistis, terpisah total dari data klien manapun.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27A"/>
                </a:solidFill>
                <a:latin typeface="Calibri"/>
              </a:rPr>
              <a:t>Inventory AI — SML Tech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27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4F46E5"/>
                </a:solidFill>
                <a:latin typeface="Calibri"/>
              </a:rPr>
              <a:t>TRANSPARANSI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A1F3B"/>
                </a:solidFill>
                <a:latin typeface="Calibri"/>
              </a:rPr>
              <a:t>Saat ini, dan yang sedang disiapkan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5029200" cy="4023360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24028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F46E5"/>
                </a:solidFill>
                <a:latin typeface="Calibri"/>
              </a:rPr>
              <a:t>SUDAH TERSEDIA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743200"/>
            <a:ext cx="4389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>
                <a:solidFill>
                  <a:srgbClr val="181B2E"/>
                </a:solidFill>
                <a:latin typeface="Calibri"/>
              </a:rPr>
              <a:t>•  Input manual: penerimaan, pengeluaran, transfer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>
                <a:solidFill>
                  <a:srgbClr val="181B2E"/>
                </a:solidFill>
                <a:latin typeface="Calibri"/>
              </a:rPr>
              <a:t>•  Forecasting AI multi-model + mode "Best" otomatis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>
                <a:solidFill>
                  <a:srgbClr val="181B2E"/>
                </a:solidFill>
                <a:latin typeface="Calibri"/>
              </a:rPr>
              <a:t>•  Reorder &amp; transfer antar gudang berbasis AI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>
                <a:solidFill>
                  <a:srgbClr val="181B2E"/>
                </a:solidFill>
                <a:latin typeface="Calibri"/>
              </a:rPr>
              <a:t>•  Analisis umur pakai komponen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>
                <a:solidFill>
                  <a:srgbClr val="181B2E"/>
                </a:solidFill>
                <a:latin typeface="Calibri"/>
              </a:rPr>
              <a:t>•  AI Assistant tanya-jawab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>
                <a:solidFill>
                  <a:srgbClr val="181B2E"/>
                </a:solidFill>
                <a:latin typeface="Calibri"/>
              </a:rPr>
              <a:t>•  Multi-tenant, aman, teruji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965960"/>
            <a:ext cx="502920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3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24028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B627A"/>
                </a:solidFill>
                <a:latin typeface="Calibri"/>
              </a:rPr>
              <a:t>DALAM RENCANA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743200"/>
            <a:ext cx="43891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>
                <a:solidFill>
                  <a:srgbClr val="181B2E"/>
                </a:solidFill>
                <a:latin typeface="Calibri"/>
              </a:rPr>
              <a:t>•  Import data dari Excel/CSV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>
                <a:solidFill>
                  <a:srgbClr val="181B2E"/>
                </a:solidFill>
                <a:latin typeface="Calibri"/>
              </a:rPr>
              <a:t>•  Integrasi ERP/akuntansi pihak ketiga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350">
                <a:solidFill>
                  <a:srgbClr val="181B2E"/>
                </a:solidFill>
                <a:latin typeface="Calibri"/>
              </a:rPr>
              <a:t>•  Self-service onboarding penuh untuk klien baru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B627A"/>
                </a:solidFill>
                <a:latin typeface="Calibri"/>
              </a:rPr>
              <a:t>Inventory AI — SML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B627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Mari jadwalkan demo langsung.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6CADC"/>
                </a:solidFill>
                <a:latin typeface="Calibri"/>
              </a:rPr>
              <a:t>Tenant demo sudah siap dengan data realistis — bisa ditunjukkan kapan saja,</a:t>
            </a:r>
          </a:p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C6CADC"/>
                </a:solidFill>
                <a:latin typeface="Calibri"/>
              </a:rPr>
              <a:t>tanpa menyentuh data klien manapun.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9AA0C0"/>
                </a:solidFill>
                <a:latin typeface="Calibri"/>
              </a:rPr>
              <a:t>Inventory AI — SML 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